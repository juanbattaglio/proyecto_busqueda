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5" r:id="rId5"/>
    <p:sldId id="310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30" r:id="rId15"/>
    <p:sldId id="328" r:id="rId16"/>
    <p:sldId id="334" r:id="rId17"/>
    <p:sldId id="332" r:id="rId18"/>
    <p:sldId id="333" r:id="rId19"/>
  </p:sldIdLst>
  <p:sldSz cx="12188825" cy="6858000"/>
  <p:notesSz cx="6858000" cy="9144000"/>
  <p:custDataLst>
    <p:tags r:id="rId22"/>
  </p:custDataLst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111" d="100"/>
          <a:sy n="111" d="100"/>
        </p:scale>
        <p:origin x="594" y="96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0" d="100"/>
          <a:sy n="100" d="100"/>
        </p:scale>
        <p:origin x="28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A61EFE9-9F30-4528-BDDA-C859CD15CA56}" type="datetime1">
              <a:rPr lang="es-ES" smtClean="0"/>
              <a:t>03/05/2026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9F912AB-2776-42F2-A957-313FC7EFEDB9}" type="slidenum">
              <a:rPr lang="es-ES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7373BEA-F5F3-4B6E-BA6B-D76E24101839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93199CD-3E1B-4AE6-990F-76F925F5EA9F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3D505D98-D4C1-4348-8F39-108EE2C76C21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8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A12EF1AF-E5B2-41DB-BFF8-672C5BBF646A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algn="r"/>
            <a:fld id="{8E17C630-F8FA-4DCB-87FA-91D30885A2FD}" type="datetime1">
              <a:rPr lang="es-ES" smtClean="0"/>
              <a:pPr algn="r"/>
              <a:t>03/05/2026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724076C6-356A-48AB-A8EF-572AE4A11929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4A686D9-BDBD-4090-B19D-04E04F3CB648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D1B4D0FB-1285-4974-8D4E-BCFCC0FA7978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Autofit/>
          </a:bodyPr>
          <a:lstStyle>
            <a:lvl1pPr algn="l" rtl="0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9C3D96D5-80C9-4ED7-89C2-CE590C3C6CB2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rmAutofit/>
          </a:bodyPr>
          <a:lstStyle>
            <a:lvl1pPr algn="l" rtl="0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DA911BAB-2490-48FD-81BA-E5EB85DA87AE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F1AC609F-0362-4067-A47A-9F1CA2E45A65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932AED9F-A6BB-400D-8F4D-616EB46A9405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7170E197-1079-4777-8273-53286CD6A787}" type="datetime1">
              <a:rPr lang="es-ES" smtClean="0"/>
              <a:pPr algn="r"/>
              <a:t>03/05/2026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1065213" y="980728"/>
            <a:ext cx="8229600" cy="2895600"/>
          </a:xfrm>
        </p:spPr>
        <p:txBody>
          <a:bodyPr rtlCol="0"/>
          <a:lstStyle/>
          <a:p>
            <a:pPr rtl="0"/>
            <a:r>
              <a:rPr lang="es-ES" dirty="0"/>
              <a:t>BAIN – Práctica 3</a:t>
            </a:r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Juan </a:t>
            </a:r>
            <a:r>
              <a:rPr lang="es-ES" dirty="0" err="1"/>
              <a:t>battaglio</a:t>
            </a:r>
            <a:r>
              <a:rPr lang="es-ES" dirty="0"/>
              <a:t>, juan Guasp, Alejandro parra</a:t>
            </a:r>
          </a:p>
          <a:p>
            <a:pPr rtl="0"/>
            <a:endParaRPr lang="es-ES" dirty="0"/>
          </a:p>
          <a:p>
            <a:pPr rtl="0"/>
            <a:r>
              <a:rPr lang="es-ES" dirty="0"/>
              <a:t>U-</a:t>
            </a:r>
            <a:r>
              <a:rPr lang="es-ES" dirty="0" err="1"/>
              <a:t>tad</a:t>
            </a:r>
            <a:r>
              <a:rPr lang="es-ES" dirty="0"/>
              <a:t>, </a:t>
            </a:r>
            <a:r>
              <a:rPr lang="es-ES" dirty="0" err="1"/>
              <a:t>inso</a:t>
            </a:r>
            <a:r>
              <a:rPr lang="es-ES" dirty="0"/>
              <a:t> 3b, 2025-2026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Problema elegido: Clasificación de textos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rtl="0"/>
            <a:endParaRPr lang="es-ES" dirty="0"/>
          </a:p>
          <a:p>
            <a:pPr rtl="0"/>
            <a:r>
              <a:rPr lang="es-ES" dirty="0"/>
              <a:t>Clasificación de textos según variables de sentimientos, como polaridad, objetividad/subjetividad, etc. </a:t>
            </a:r>
          </a:p>
          <a:p>
            <a:pPr rtl="0"/>
            <a:r>
              <a:rPr lang="es-ES" dirty="0"/>
              <a:t>Valoración de una reseña.</a:t>
            </a:r>
          </a:p>
          <a:p>
            <a:pPr rtl="0"/>
            <a:endParaRPr lang="es-ES" dirty="0"/>
          </a:p>
          <a:p>
            <a:r>
              <a:rPr lang="es-ES" dirty="0"/>
              <a:t>Modelos seleccionados</a:t>
            </a:r>
          </a:p>
          <a:p>
            <a:pPr lvl="1"/>
            <a:r>
              <a:rPr lang="es-ES" dirty="0" err="1"/>
              <a:t>microsoft</a:t>
            </a:r>
            <a:r>
              <a:rPr lang="es-ES" dirty="0"/>
              <a:t>/Phi-3-mini-4k-instruct</a:t>
            </a:r>
          </a:p>
          <a:p>
            <a:pPr lvl="1"/>
            <a:r>
              <a:rPr lang="es-ES" dirty="0" err="1"/>
              <a:t>mistralai</a:t>
            </a:r>
            <a:r>
              <a:rPr lang="es-ES" dirty="0"/>
              <a:t>/Mistral-7B-Instruct-v0.3</a:t>
            </a:r>
          </a:p>
          <a:p>
            <a:pPr lvl="1"/>
            <a:r>
              <a:rPr lang="es-ES" dirty="0" err="1"/>
              <a:t>google</a:t>
            </a:r>
            <a:r>
              <a:rPr lang="es-ES" dirty="0"/>
              <a:t>/gemma-2-2b-it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C69C5-107A-37CB-F855-071CC6C7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1: </a:t>
            </a:r>
            <a:r>
              <a:rPr lang="es-ES" dirty="0" err="1"/>
              <a:t>microsoft</a:t>
            </a:r>
            <a:r>
              <a:rPr lang="es-ES" dirty="0"/>
              <a:t>/Phi-3-mini-4k-instruct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29AAB4-7C10-FC11-54A2-E34110A34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 err="1"/>
              <a:t>Nº</a:t>
            </a:r>
            <a:r>
              <a:rPr lang="es-ES" dirty="0"/>
              <a:t> de parámetros: ~3.8B</a:t>
            </a:r>
          </a:p>
          <a:p>
            <a:endParaRPr lang="es-ES" dirty="0"/>
          </a:p>
          <a:p>
            <a:r>
              <a:rPr lang="es-ES" dirty="0"/>
              <a:t>Fecha de publicación: abril de 2024</a:t>
            </a:r>
          </a:p>
          <a:p>
            <a:endParaRPr lang="es-ES" dirty="0"/>
          </a:p>
          <a:p>
            <a:r>
              <a:rPr lang="es-ES" dirty="0"/>
              <a:t>Observaciones: Muy eficiente para su tamaño, buen seguimiento de instrucciones. Ejecución cómoda.</a:t>
            </a:r>
          </a:p>
        </p:txBody>
      </p:sp>
    </p:spTree>
    <p:extLst>
      <p:ext uri="{BB962C8B-B14F-4D97-AF65-F5344CB8AC3E}">
        <p14:creationId xmlns:p14="http://schemas.microsoft.com/office/powerpoint/2010/main" val="180555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29F6-9F15-A3A1-8EEE-74983EF7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7EB67-74A1-0D76-8C79-B10649C1B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2: </a:t>
            </a:r>
            <a:r>
              <a:rPr lang="es-ES" dirty="0" err="1"/>
              <a:t>mistralai</a:t>
            </a:r>
            <a:r>
              <a:rPr lang="es-ES" dirty="0"/>
              <a:t>/Mistral-7B-Instruct-v0.3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4AE295-FC69-4597-88F0-CF4B4F787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 err="1"/>
              <a:t>Nº</a:t>
            </a:r>
            <a:r>
              <a:rPr lang="es-ES" dirty="0"/>
              <a:t> de parámetros: ~7B</a:t>
            </a:r>
          </a:p>
          <a:p>
            <a:endParaRPr lang="es-ES" dirty="0"/>
          </a:p>
          <a:p>
            <a:r>
              <a:rPr lang="es-ES" dirty="0"/>
              <a:t>Fecha de publicación: mayo de 2024</a:t>
            </a:r>
          </a:p>
          <a:p>
            <a:endParaRPr lang="es-ES" dirty="0"/>
          </a:p>
          <a:p>
            <a:r>
              <a:rPr lang="es-ES" dirty="0"/>
              <a:t>Observaciones: Referente en open-</a:t>
            </a:r>
            <a:r>
              <a:rPr lang="es-ES" dirty="0" err="1"/>
              <a:t>source</a:t>
            </a:r>
            <a:r>
              <a:rPr lang="es-ES" dirty="0"/>
              <a:t>, buen balance calidad/tamaño. Necesita </a:t>
            </a:r>
            <a:r>
              <a:rPr lang="es-ES" dirty="0" err="1"/>
              <a:t>Colab</a:t>
            </a:r>
            <a:r>
              <a:rPr lang="es-ES" dirty="0"/>
              <a:t> con GPU T4.</a:t>
            </a:r>
          </a:p>
        </p:txBody>
      </p:sp>
    </p:spTree>
    <p:extLst>
      <p:ext uri="{BB962C8B-B14F-4D97-AF65-F5344CB8AC3E}">
        <p14:creationId xmlns:p14="http://schemas.microsoft.com/office/powerpoint/2010/main" val="161084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7EB20-E87A-C625-F326-20C16B17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CAD90-3440-665F-CF05-E2C5F945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3: </a:t>
            </a:r>
            <a:r>
              <a:rPr lang="es-ES" dirty="0" err="1"/>
              <a:t>google</a:t>
            </a:r>
            <a:r>
              <a:rPr lang="es-ES" dirty="0"/>
              <a:t>/gemma-2-2b-it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BDFBB6-6783-42D8-713B-4FEECA706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 err="1"/>
              <a:t>Nº</a:t>
            </a:r>
            <a:r>
              <a:rPr lang="es-ES" dirty="0"/>
              <a:t> de parámetros: ~2B</a:t>
            </a:r>
          </a:p>
          <a:p>
            <a:endParaRPr lang="es-ES" dirty="0"/>
          </a:p>
          <a:p>
            <a:r>
              <a:rPr lang="es-ES" dirty="0"/>
              <a:t>Fecha de publicación: junio de 2024</a:t>
            </a:r>
          </a:p>
          <a:p>
            <a:endParaRPr lang="es-ES" dirty="0"/>
          </a:p>
          <a:p>
            <a:r>
              <a:rPr lang="es-ES" dirty="0"/>
              <a:t>Observaciones: Modelo pequeño de Google, interesante para ver cómo se comporta un modelo más limitado frente a los otros dos.</a:t>
            </a:r>
          </a:p>
        </p:txBody>
      </p:sp>
    </p:spTree>
    <p:extLst>
      <p:ext uri="{BB962C8B-B14F-4D97-AF65-F5344CB8AC3E}">
        <p14:creationId xmlns:p14="http://schemas.microsoft.com/office/powerpoint/2010/main" val="294061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3280A-2276-910C-A52A-5472B770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Configuraciones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C06837-8729-C767-65C3-B2589DB8F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3068215" cy="4114801"/>
          </a:xfrm>
        </p:spPr>
        <p:txBody>
          <a:bodyPr/>
          <a:lstStyle/>
          <a:p>
            <a:r>
              <a:rPr lang="es-ES" dirty="0"/>
              <a:t>Phi</a:t>
            </a:r>
          </a:p>
          <a:p>
            <a:pPr lvl="1"/>
            <a:r>
              <a:rPr lang="es-ES" dirty="0"/>
              <a:t>Ventana de contexto: 4096 tokens</a:t>
            </a:r>
          </a:p>
          <a:p>
            <a:pPr lvl="1"/>
            <a:r>
              <a:rPr lang="en-US" dirty="0"/>
              <a:t>Decoder-only Transformer (causal LM) con grouped-query attention</a:t>
            </a:r>
          </a:p>
          <a:p>
            <a:pPr lvl="1"/>
            <a:r>
              <a:rPr lang="en-US" dirty="0"/>
              <a:t>Tensor type </a:t>
            </a:r>
            <a:r>
              <a:rPr lang="en-US" dirty="0" err="1"/>
              <a:t>recomendado</a:t>
            </a:r>
            <a:r>
              <a:rPr lang="en-US" dirty="0"/>
              <a:t>: float16</a:t>
            </a:r>
          </a:p>
          <a:p>
            <a:pPr lvl="1"/>
            <a:r>
              <a:rPr lang="en-US" dirty="0" err="1"/>
              <a:t>Licencia:MIT</a:t>
            </a:r>
            <a:endParaRPr lang="en-US" dirty="0"/>
          </a:p>
          <a:p>
            <a:pPr lvl="1"/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6D6F67-BCCB-1B52-E5D0-92E986FE1BF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598198" y="1904182"/>
            <a:ext cx="3365500" cy="4114800"/>
          </a:xfrm>
        </p:spPr>
        <p:txBody>
          <a:bodyPr/>
          <a:lstStyle/>
          <a:p>
            <a:r>
              <a:rPr lang="es-ES" dirty="0"/>
              <a:t>Gemma</a:t>
            </a:r>
          </a:p>
          <a:p>
            <a:pPr lvl="1"/>
            <a:r>
              <a:rPr lang="es-ES" dirty="0" err="1"/>
              <a:t>Instruction-tuned</a:t>
            </a:r>
            <a:endParaRPr lang="es-ES" dirty="0"/>
          </a:p>
          <a:p>
            <a:pPr lvl="1"/>
            <a:r>
              <a:rPr lang="es-ES" dirty="0"/>
              <a:t>Ventana de contexto: 8192 tokens</a:t>
            </a:r>
          </a:p>
          <a:p>
            <a:pPr lvl="1"/>
            <a:r>
              <a:rPr lang="es-ES" dirty="0"/>
              <a:t>Tensor </a:t>
            </a:r>
            <a:r>
              <a:rPr lang="es-ES" dirty="0" err="1"/>
              <a:t>type</a:t>
            </a:r>
            <a:r>
              <a:rPr lang="es-ES" dirty="0"/>
              <a:t>: BF16</a:t>
            </a:r>
          </a:p>
          <a:p>
            <a:pPr lvl="1"/>
            <a:r>
              <a:rPr lang="es-ES" dirty="0"/>
              <a:t>Licencia: Google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8635788B-A173-42B3-6A2E-ED48596DA9A4}"/>
              </a:ext>
            </a:extLst>
          </p:cNvPr>
          <p:cNvSpPr txBox="1">
            <a:spLocks/>
          </p:cNvSpPr>
          <p:nvPr/>
        </p:nvSpPr>
        <p:spPr>
          <a:xfrm>
            <a:off x="4411664" y="1904182"/>
            <a:ext cx="3365495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Mistral</a:t>
            </a:r>
          </a:p>
          <a:p>
            <a:pPr lvl="1"/>
            <a:r>
              <a:rPr lang="es-ES" dirty="0"/>
              <a:t>Ventana de contexto: 32768 tokens</a:t>
            </a:r>
          </a:p>
          <a:p>
            <a:pPr lvl="1"/>
            <a:r>
              <a:rPr lang="es-ES" dirty="0" err="1"/>
              <a:t>Intruction-tuned</a:t>
            </a:r>
            <a:endParaRPr lang="es-ES" dirty="0"/>
          </a:p>
          <a:p>
            <a:pPr lvl="1"/>
            <a:r>
              <a:rPr lang="es-ES" dirty="0"/>
              <a:t>Tensor </a:t>
            </a:r>
            <a:r>
              <a:rPr lang="es-ES" dirty="0" err="1"/>
              <a:t>type</a:t>
            </a:r>
            <a:r>
              <a:rPr lang="es-ES" dirty="0"/>
              <a:t>: BF16</a:t>
            </a:r>
          </a:p>
          <a:p>
            <a:pPr lvl="1"/>
            <a:r>
              <a:rPr lang="es-ES" dirty="0"/>
              <a:t>Licencia: Apache 2.0</a:t>
            </a:r>
          </a:p>
        </p:txBody>
      </p:sp>
    </p:spTree>
    <p:extLst>
      <p:ext uri="{BB962C8B-B14F-4D97-AF65-F5344CB8AC3E}">
        <p14:creationId xmlns:p14="http://schemas.microsoft.com/office/powerpoint/2010/main" val="373083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C6B9C-65DB-62D6-D361-424CCF47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/>
              <a:t>Prompts</a:t>
            </a:r>
            <a:r>
              <a:rPr lang="es-ES" dirty="0"/>
              <a:t> empleados (Reseña/mensaje + Base)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307A68-6FC4-E904-9415-8D98CB7C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Mensaje/Reseña: "El producto llegó antes de lo esperado y el embalaje estaba perfecto. Sin embargo, después de usarlo tres días, dejó de funcionar correctamente. El servicio de atención al cliente no respondió a mis mensajes. Muy decepcionante."</a:t>
            </a:r>
          </a:p>
          <a:p>
            <a:r>
              <a:rPr lang="es-ES" dirty="0"/>
              <a:t> Base: “Clasifica la siguiente reseña como positiva, negativa o neutra:”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53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5B1B7-7C25-D968-EC2A-735A4C9B8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803" y="404664"/>
            <a:ext cx="9144001" cy="627856"/>
          </a:xfrm>
        </p:spPr>
        <p:txBody>
          <a:bodyPr>
            <a:normAutofit/>
          </a:bodyPr>
          <a:lstStyle/>
          <a:p>
            <a:pPr algn="ctr"/>
            <a:r>
              <a:rPr lang="es-ES" dirty="0" err="1"/>
              <a:t>Prompts</a:t>
            </a:r>
            <a:r>
              <a:rPr lang="es-ES" dirty="0"/>
              <a:t> empleados (Plantilla clara)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183AD6-9BFD-C0A3-F0AB-C8252CBEF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12" y="1340768"/>
            <a:ext cx="10801199" cy="4824535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“Tarea: Clasifica la reseña de un producto como positiva, negativa o neutra.</a:t>
            </a:r>
          </a:p>
          <a:p>
            <a:r>
              <a:rPr lang="es-ES" dirty="0"/>
              <a:t>Contexto: Eres un sistema de análisis de opiniones para una tienda online. La clasificación se usará para mejorar el servicio al cliente. </a:t>
            </a:r>
          </a:p>
          <a:p>
            <a:r>
              <a:rPr lang="es-ES" dirty="0"/>
              <a:t>Restricciones: </a:t>
            </a:r>
          </a:p>
          <a:p>
            <a:pPr lvl="1">
              <a:buFontTx/>
              <a:buChar char="-"/>
            </a:pPr>
            <a:r>
              <a:rPr lang="es-ES" dirty="0"/>
              <a:t>Responde únicamente con una de estas etiquetas: positiva, negativa, neutra.</a:t>
            </a:r>
          </a:p>
          <a:p>
            <a:pPr lvl="1">
              <a:buFontTx/>
              <a:buChar char="-"/>
            </a:pPr>
            <a:r>
              <a:rPr lang="es-ES" dirty="0"/>
              <a:t> Añade una justificación de máximo 2 frases. </a:t>
            </a:r>
          </a:p>
          <a:p>
            <a:pPr lvl="1">
              <a:buFontTx/>
              <a:buChar char="-"/>
            </a:pPr>
            <a:r>
              <a:rPr lang="es-ES" dirty="0"/>
              <a:t>No uses información externa a la reseña.</a:t>
            </a:r>
          </a:p>
          <a:p>
            <a:r>
              <a:rPr lang="es-ES" dirty="0"/>
              <a:t>Formato de salida: </a:t>
            </a:r>
          </a:p>
          <a:p>
            <a:pPr lvl="1"/>
            <a:r>
              <a:rPr lang="es-ES" dirty="0"/>
              <a:t>Clasificación: [etiqueta]</a:t>
            </a:r>
          </a:p>
          <a:p>
            <a:pPr lvl="1"/>
            <a:r>
              <a:rPr lang="es-ES" dirty="0"/>
              <a:t>Justificación: [máximo 2 frases]</a:t>
            </a:r>
          </a:p>
          <a:p>
            <a:r>
              <a:rPr lang="es-ES" dirty="0"/>
              <a:t>Criterio de calidad: La clasificación debe reflejar el sentimiento predominante del texto, no solo aspectos aislados.”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788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9977-7A54-6EEF-32FB-77D54201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38512-A183-52CD-9945-F2FF36D86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803" y="404664"/>
            <a:ext cx="9144001" cy="627856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 err="1"/>
              <a:t>Prompts</a:t>
            </a:r>
            <a:r>
              <a:rPr lang="es-ES" dirty="0"/>
              <a:t> empleados (Razonamiento + Contraste)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8C4747-DCDA-3DCD-3E2A-111B048D8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12" y="1340768"/>
            <a:ext cx="10801199" cy="4824535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Analiza la siguiente reseña de producto paso a paso y determina su clasificación.</a:t>
            </a:r>
          </a:p>
          <a:p>
            <a:r>
              <a:rPr lang="es-ES" dirty="0"/>
              <a:t> Reseña: "El producto llegó antes de lo esperado y el embalaje estaba perfecto. Sin embargo, después de usarlo tres días, dejó de funcionar correctamente. El servicio de atención al cliente no respondió a mis mensajes. Muy decepcionante.“</a:t>
            </a:r>
          </a:p>
          <a:p>
            <a:r>
              <a:rPr lang="es-ES" dirty="0"/>
              <a:t>Sigue estos pasos:</a:t>
            </a:r>
          </a:p>
          <a:p>
            <a:pPr lvl="1"/>
            <a:r>
              <a:rPr lang="es-ES" dirty="0"/>
              <a:t>1. Identifica los aspectos positivos mencionados en la reseña.</a:t>
            </a:r>
          </a:p>
          <a:p>
            <a:pPr lvl="1"/>
            <a:r>
              <a:rPr lang="es-ES" dirty="0"/>
              <a:t>2. Identifica los aspectos negativos mencionados en la reseña.</a:t>
            </a:r>
          </a:p>
          <a:p>
            <a:pPr lvl="1"/>
            <a:r>
              <a:rPr lang="es-ES" dirty="0"/>
              <a:t>3. Considera las tres posibles clasificaciones: positiva, negativa y neutra.</a:t>
            </a:r>
          </a:p>
          <a:p>
            <a:pPr lvl="1"/>
            <a:r>
              <a:rPr lang="es-ES" dirty="0"/>
              <a:t>4. Compara el peso de los argumentos a favor de cada una.</a:t>
            </a:r>
          </a:p>
          <a:p>
            <a:pPr lvl="1"/>
            <a:r>
              <a:rPr lang="es-ES" dirty="0"/>
              <a:t>5. Escribe una conclusión final justificada con la clasificación elegida.</a:t>
            </a:r>
          </a:p>
          <a:p>
            <a:pPr lvl="1"/>
            <a:r>
              <a:rPr lang="es-ES" dirty="0"/>
              <a:t>Formato de respuesta:</a:t>
            </a:r>
          </a:p>
          <a:p>
            <a:pPr lvl="2"/>
            <a:r>
              <a:rPr lang="es-ES" dirty="0"/>
              <a:t>Aspectos positivos: ...</a:t>
            </a:r>
          </a:p>
          <a:p>
            <a:pPr lvl="2"/>
            <a:r>
              <a:rPr lang="es-ES" dirty="0"/>
              <a:t>Aspectos negativos: ..</a:t>
            </a:r>
          </a:p>
          <a:p>
            <a:pPr lvl="2"/>
            <a:r>
              <a:rPr lang="es-ES" dirty="0"/>
              <a:t> Análisis de alternativas: ...</a:t>
            </a:r>
          </a:p>
          <a:p>
            <a:pPr lvl="2"/>
            <a:r>
              <a:rPr lang="es-ES" dirty="0"/>
              <a:t>Conclusión y clasificación final: ...</a:t>
            </a:r>
          </a:p>
        </p:txBody>
      </p:sp>
    </p:spTree>
    <p:extLst>
      <p:ext uri="{BB962C8B-B14F-4D97-AF65-F5344CB8AC3E}">
        <p14:creationId xmlns:p14="http://schemas.microsoft.com/office/powerpoint/2010/main" val="719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C422-C5D1-6274-A50F-5C9F82A1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023" y="452264"/>
            <a:ext cx="9144001" cy="771872"/>
          </a:xfrm>
        </p:spPr>
        <p:txBody>
          <a:bodyPr/>
          <a:lstStyle/>
          <a:p>
            <a:pPr algn="ctr"/>
            <a:r>
              <a:rPr lang="es-ES" dirty="0"/>
              <a:t>Métricas a evaluar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CACCCA-16B0-8C5F-FBB9-654644EB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539" y="1484784"/>
            <a:ext cx="9746968" cy="4607024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Subjetivas</a:t>
            </a:r>
          </a:p>
          <a:p>
            <a:pPr lvl="1"/>
            <a:r>
              <a:rPr lang="es-ES" dirty="0"/>
              <a:t>Claridad </a:t>
            </a:r>
          </a:p>
          <a:p>
            <a:pPr lvl="1"/>
            <a:r>
              <a:rPr lang="es-ES" dirty="0"/>
              <a:t>Coherencia </a:t>
            </a:r>
          </a:p>
          <a:p>
            <a:pPr lvl="1"/>
            <a:r>
              <a:rPr lang="es-ES" dirty="0"/>
              <a:t>Utilidad</a:t>
            </a:r>
          </a:p>
          <a:p>
            <a:pPr lvl="1"/>
            <a:r>
              <a:rPr lang="es-ES" dirty="0"/>
              <a:t>Calidad argumentativa</a:t>
            </a:r>
          </a:p>
          <a:p>
            <a:endParaRPr lang="es-ES" dirty="0"/>
          </a:p>
          <a:p>
            <a:r>
              <a:rPr lang="es-ES" dirty="0"/>
              <a:t>Objetivas</a:t>
            </a:r>
          </a:p>
          <a:p>
            <a:pPr lvl="1"/>
            <a:r>
              <a:rPr lang="es-ES" dirty="0"/>
              <a:t>Sentimiento ( 0 &lt; x &lt; 1)</a:t>
            </a:r>
          </a:p>
          <a:p>
            <a:pPr lvl="1"/>
            <a:r>
              <a:rPr lang="es-ES" dirty="0"/>
              <a:t>Formato (0 &lt; x &lt; 1)</a:t>
            </a:r>
          </a:p>
          <a:p>
            <a:pPr lvl="1"/>
            <a:r>
              <a:rPr lang="es-ES" dirty="0"/>
              <a:t>Apartados solicitados (Proporción)</a:t>
            </a:r>
          </a:p>
          <a:p>
            <a:pPr lvl="1"/>
            <a:r>
              <a:rPr lang="es-ES" dirty="0"/>
              <a:t>Consistencia (Porcentaje de misma etiqueta)</a:t>
            </a:r>
          </a:p>
        </p:txBody>
      </p:sp>
    </p:spTree>
    <p:extLst>
      <p:ext uri="{BB962C8B-B14F-4D97-AF65-F5344CB8AC3E}">
        <p14:creationId xmlns:p14="http://schemas.microsoft.com/office/powerpoint/2010/main" val="199758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9F8F-41B7-A5E7-A7BA-2C3B9FAF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A2BF-58BF-D993-6CA6-4570BAEFA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s-ES" dirty="0"/>
              <a:t>Tablas comparativas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C52679F-ECB1-9791-E190-A6DE26EAE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995" y="1904999"/>
            <a:ext cx="5695227" cy="41148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899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9050C-F867-FFC8-2171-0DCC7380B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s-ES" dirty="0"/>
              <a:t>Análisis de variabilidad</a:t>
            </a:r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0684854-A3DD-6899-65BD-BF489457D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995" y="1904999"/>
            <a:ext cx="5695227" cy="41148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754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E09C9-FD31-65A5-B721-B80DFDC9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s-ES" dirty="0"/>
              <a:t>Veredicto Final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6A5063B7-9DD2-BEE3-3ED0-0D85FD721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74920" y="1904999"/>
            <a:ext cx="6429377" cy="411480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3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A04BF-2915-7C72-9CC7-048FDC71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473" y="381000"/>
            <a:ext cx="9144001" cy="914400"/>
          </a:xfrm>
        </p:spPr>
        <p:txBody>
          <a:bodyPr/>
          <a:lstStyle/>
          <a:p>
            <a:pPr algn="ctr"/>
            <a:r>
              <a:rPr lang="es-ES" dirty="0"/>
              <a:t>Conclusiones Finales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39E62D-E1EF-0C16-2213-C91EA5B04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8829" y="1556792"/>
            <a:ext cx="9134391" cy="4752528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Los </a:t>
            </a:r>
            <a:r>
              <a:rPr lang="es-ES" dirty="0" err="1"/>
              <a:t>prompts</a:t>
            </a:r>
            <a:r>
              <a:rPr lang="es-ES" dirty="0"/>
              <a:t> cortos producen máxima estabilidad, hasta llegando a neutralizar el efecto de la temperatura y la aleatoriedad. El </a:t>
            </a:r>
            <a:r>
              <a:rPr lang="es-ES" dirty="0" err="1"/>
              <a:t>prompt</a:t>
            </a:r>
            <a:r>
              <a:rPr lang="es-ES" dirty="0"/>
              <a:t> de plantilla es el más fiable en los tres modelos.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El </a:t>
            </a:r>
            <a:r>
              <a:rPr lang="es-ES" dirty="0" err="1"/>
              <a:t>prompt</a:t>
            </a:r>
            <a:r>
              <a:rPr lang="es-ES" dirty="0"/>
              <a:t> de razonamiento dispara la variabilidad de forma. El </a:t>
            </a:r>
            <a:r>
              <a:rPr lang="es-ES" dirty="0" err="1"/>
              <a:t>prompt</a:t>
            </a:r>
            <a:r>
              <a:rPr lang="es-ES" dirty="0"/>
              <a:t> largo y su estructura da mayor libertad y mayor variabilidad.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Más libertad de forma se traduce en menor estabilidad de decisión, pero el efecto depende del modelo. 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La variabilidad de forma NO predice la variabilidad de decisión. Gemma 2 con </a:t>
            </a:r>
            <a:r>
              <a:rPr lang="es-ES" dirty="0" err="1"/>
              <a:t>prompt</a:t>
            </a:r>
            <a:r>
              <a:rPr lang="es-ES" dirty="0"/>
              <a:t> 3 tiene desviación estándar muy alta en longitud, pero consistencia de etiqueta perfecta.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Mistral es el modelo más robusto. </a:t>
            </a:r>
            <a:r>
              <a:rPr lang="es-ES" dirty="0" err="1"/>
              <a:t>Prompts</a:t>
            </a:r>
            <a:r>
              <a:rPr lang="es-ES" dirty="0"/>
              <a:t> largos con &gt;=7B de parámetros para producción.</a:t>
            </a:r>
          </a:p>
        </p:txBody>
      </p:sp>
    </p:spTree>
    <p:extLst>
      <p:ext uri="{BB962C8B-B14F-4D97-AF65-F5344CB8AC3E}">
        <p14:creationId xmlns:p14="http://schemas.microsoft.com/office/powerpoint/2010/main" val="217716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93469-9178-AB36-4690-16211A5A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47505A3-954D-AE30-398F-7E33077CD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213" y="980728"/>
            <a:ext cx="8229600" cy="2895600"/>
          </a:xfrm>
        </p:spPr>
        <p:txBody>
          <a:bodyPr rtlCol="0"/>
          <a:lstStyle/>
          <a:p>
            <a:pPr rtl="0"/>
            <a:r>
              <a:rPr lang="es-ES" dirty="0"/>
              <a:t>BAIN – Práctica 3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617BB6BD-BB6D-8A58-1168-BC68CAE23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Juan </a:t>
            </a:r>
            <a:r>
              <a:rPr lang="es-ES" dirty="0" err="1"/>
              <a:t>battaglio</a:t>
            </a:r>
            <a:r>
              <a:rPr lang="es-ES" dirty="0"/>
              <a:t>, juan Guasp, Alejandro parra</a:t>
            </a:r>
          </a:p>
          <a:p>
            <a:pPr rtl="0"/>
            <a:endParaRPr lang="es-ES" dirty="0"/>
          </a:p>
          <a:p>
            <a:pPr rtl="0"/>
            <a:r>
              <a:rPr lang="es-ES" dirty="0"/>
              <a:t>U-</a:t>
            </a:r>
            <a:r>
              <a:rPr lang="es-ES" dirty="0" err="1"/>
              <a:t>tad</a:t>
            </a:r>
            <a:r>
              <a:rPr lang="es-ES" dirty="0"/>
              <a:t>, </a:t>
            </a:r>
            <a:r>
              <a:rPr lang="es-ES" dirty="0" err="1"/>
              <a:t>inso</a:t>
            </a:r>
            <a:r>
              <a:rPr lang="es-ES" dirty="0"/>
              <a:t> 3b, 2025-2026</a:t>
            </a:r>
          </a:p>
        </p:txBody>
      </p:sp>
    </p:spTree>
    <p:extLst>
      <p:ext uri="{BB962C8B-B14F-4D97-AF65-F5344CB8AC3E}">
        <p14:creationId xmlns:p14="http://schemas.microsoft.com/office/powerpoint/2010/main" val="123779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Túnel azul digital 16 × 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908_TF02895261_TF02895261.potx" id="{408D3025-4796-40C5-A420-4B86355D8C1A}" vid="{9B9A56E1-CA61-4AB5-B8B3-A8E151813968}"/>
    </a:ext>
  </a:extLst>
</a:theme>
</file>

<file path=ppt/theme/theme2.xml><?xml version="1.0" encoding="utf-8"?>
<a:theme xmlns:a="http://schemas.openxmlformats.org/drawingml/2006/main" name="Tema de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E41224-0370-4595-877C-23316CD80004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túnel azul digital empresarial (panorámica)</Template>
  <TotalTime>624</TotalTime>
  <Words>759</Words>
  <Application>Microsoft Office PowerPoint</Application>
  <PresentationFormat>Personalizado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Corbel</vt:lpstr>
      <vt:lpstr>Túnel azul digital 16 × 9</vt:lpstr>
      <vt:lpstr>BAIN – Práctica 3</vt:lpstr>
      <vt:lpstr>Problema elegido: Clasificación de textos</vt:lpstr>
      <vt:lpstr>Modelo 1: microsoft/Phi-3-mini-4k-instruct</vt:lpstr>
      <vt:lpstr>Modelo 2: mistralai/Mistral-7B-Instruct-v0.3</vt:lpstr>
      <vt:lpstr>Modelo 3: google/gemma-2-2b-it</vt:lpstr>
      <vt:lpstr>Configuraciones de uso</vt:lpstr>
      <vt:lpstr>Prompts empleados (Reseña/mensaje + Base)</vt:lpstr>
      <vt:lpstr>Prompts empleados (Plantilla clara)</vt:lpstr>
      <vt:lpstr>Prompts empleados (Razonamiento + Contraste)</vt:lpstr>
      <vt:lpstr>Métricas a evaluar</vt:lpstr>
      <vt:lpstr>Tablas comparativas</vt:lpstr>
      <vt:lpstr>Análisis de variabilidad</vt:lpstr>
      <vt:lpstr>Veredicto Final</vt:lpstr>
      <vt:lpstr>Conclusiones Finales</vt:lpstr>
      <vt:lpstr>BAIN – Práctica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Guasp Timoner</dc:creator>
  <cp:lastModifiedBy>Juan Guasp Timoner</cp:lastModifiedBy>
  <cp:revision>2</cp:revision>
  <dcterms:created xsi:type="dcterms:W3CDTF">2026-05-03T14:40:07Z</dcterms:created>
  <dcterms:modified xsi:type="dcterms:W3CDTF">2026-05-04T01:04:50Z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